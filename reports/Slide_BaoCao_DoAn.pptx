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A365D"/>
                </a:solidFill>
              </a:rPr>
              <a:t>TRƯỜNG ĐẠI HỌC CÔNG NGHỆ THÔNG TIN – ĐHQG-HCM</a:t>
            </a:r>
          </a:p>
          <a:p>
            <a:pPr>
              <a:spcBef>
                <a:spcPts val="200"/>
              </a:spcBef>
            </a:pPr>
            <a:r>
              <a:rPr sz="1150" b="1">
                <a:solidFill>
                  <a:srgbClr val="DD6B20"/>
                </a:solidFill>
              </a:rPr>
              <a:t>BÁO CÁO ĐỒ ÁN MÔN HỌC: MÁY HỌC (CS114.F31.CN2.TTNT)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72865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Tra cứu Luật An toàn, vệ sinh lao động bằng NLP tiếng Việt</a:t>
            </a:r>
          </a:p>
          <a:p>
            <a:pPr>
              <a:spcBef>
                <a:spcPts val="600"/>
              </a:spcBef>
            </a:pPr>
            <a:r>
              <a:rPr sz="1550">
                <a:solidFill>
                  <a:srgbClr val="4A5568"/>
                </a:solidFill>
              </a:rPr>
              <a:t>Hệ thống hai giai đoạn: Phân loại 8 nhóm quy định (ML) &amp; Tra cứu Điều luật cụ thể (IR)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88920"/>
            <a:ext cx="5193792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044952"/>
            <a:ext cx="455371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A365D"/>
                </a:solidFill>
              </a:rPr>
              <a:t>THÔNG TIN THỰC HIỆN</a:t>
            </a:r>
          </a:p>
          <a:p>
            <a:r>
              <a:rPr sz="1200">
                <a:solidFill>
                  <a:srgbClr val="4A5568"/>
                </a:solidFill>
              </a:rPr>
              <a:t>Giảng viên hướng dẫn: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A365D"/>
                </a:solidFill>
              </a:rPr>
              <a:t>ThS. Cáp Phạm Đình Thăng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DD6B20"/>
                </a:solidFill>
              </a:rPr>
              <a:t>Nhóm sinh viên thực hiện: Nhóm 27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1A202C"/>
                </a:solidFill>
              </a:rPr>
              <a:t>•  Đỗ Quốc Hoàng  –  26410043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1A202C"/>
                </a:solidFill>
              </a:rPr>
              <a:t>•  Nguyễn Trí Toàn  –  26410135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1A202C"/>
                </a:solidFill>
              </a:rPr>
              <a:t>•  Nguyễn Văn Thái  –  26410108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788920"/>
            <a:ext cx="5193792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79" y="3044952"/>
            <a:ext cx="455371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A365D"/>
                </a:solidFill>
              </a:rPr>
              <a:t>TỔNG QUAN GIẢI PHÁP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202C"/>
                </a:solidFill>
              </a:rPr>
              <a:t>•  Bài toán: Câu hỏi đời thường → 8 nhóm quy định (ML) → Top-k Điều luật (IR)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202C"/>
                </a:solidFill>
              </a:rPr>
              <a:t>•  Văn bản pháp lý: Luật 84/2015/QH13, VBHN 14/2024 (phạm vi Điều 1–62)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202C"/>
                </a:solidFill>
              </a:rPr>
              <a:t>•  Mô hình chọn theo val: TF-IDF (1,2)-gram + LinearSVC (Test F1: 90.5%, Thật F1: 62.0%)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202C"/>
                </a:solidFill>
              </a:rPr>
              <a:t>•  Cam kết kỹ thuật: 100% Machine Learning truyền thống, chạy offline &amp; demo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Bối cảnh &amp; kiến trúc hai giai đoạn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Người lao động hỏi bằng ngôn ngữ đời thường, không nhớ số Điều, Khoản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Tìm kiếm từ khóa chính xác: dễ không ra kết quả hoặc ra quá nhiều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Giai đoạn 1 (ML): TF-IDF + bộ phân loại → 1 trong 8 nhóm quy định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Giai đoạn 2 (IR): cosine similarity giữa câu hỏi và các Điều trong nhóm → Top-k Điều luật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Không dùng LLM/API bên ngoài để trả lời: toàn bộ là mô hình học máy truyền thống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Hệ thống 8 lớp nhãn</a:t>
            </a:r>
          </a:p>
          <a:p>
            <a:r>
              <a:rPr sz="1500">
                <a:solidFill>
                  <a:srgbClr val="4A5568"/>
                </a:solidFill>
              </a:rPr>
              <a:t>Mỗi Điều thuộc đúng 1 lớp; nhãn câu hỏi suy ra từ Điều trả lời trực tiếp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Lớp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Số Điều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QUY_DINH_CHUNG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Quy định chung, quyền và nghĩa vụ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BIEN_PHAP_PHONG_NGUA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Biện pháp phòng ngừa, cải thiện điều kiện làm việc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PHUONG_TIEN_BAO_HO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Phương tiện bảo vệ cá nhân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SUC_KHOE_BOI_DUONG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Khám sức khỏe, bệnh nghề nghiệp, bồi dưỡng hiện vật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KHAI_BAO_DIEU_TRA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Khai báo, điều tra, thống kê tai nạn/sự cố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CHE_DO_BOI_THUONG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Bồi thường, trợ cấp tai nạn lao động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HUAN_LUYEN_ATLD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Huấn luyện an toàn, vệ sinh lao động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BAO_HIEM_TNLD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Bảo hiểm tai nạn lao động, bệnh nghề nghiệp (Quỹ BHXH chi trả)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Dữ liệu</a:t>
            </a:r>
          </a:p>
          <a:p>
            <a:r>
              <a:rPr sz="1500">
                <a:solidFill>
                  <a:srgbClr val="4A5568"/>
                </a:solidFill>
              </a:rPr>
              <a:t>1600 câu hỏi · 320 câu gốc × 5 văn phong · 42 câu hỏi thật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Synthetic do LLM (Claude) sinh từ nội dung Điều luật: 40 câu gốc/lớp, 5 văn phong; nhãn suy từ Điều, kiểm bằng validator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Cân bằng lớp: 200 mẫu mỗi lớp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Chia theo nhóm câu gốc (StratifiedGroupKFold): train 1140 · val 230 · test 230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Mọi paraphrase của một câu gốc nằm cùng 1 tập → không rò rỉ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Test thật: 42 câu của người dân trên chinhsachonline.chinhphu.vn, nhãn LLM gán theo Điều mà Bộ trả lời viện dẫn, 1 thành viên gán nhãn mù kiểm chứng</a:t>
            </a:r>
          </a:p>
        </p:txBody>
      </p:sp>
      <p:pic>
        <p:nvPicPr>
          <p:cNvPr id="5" name="Picture 4" descr="eda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486400" cy="17980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EDA &amp; tiền xử lý</a:t>
            </a:r>
          </a:p>
        </p:txBody>
      </p:sp>
      <p:pic>
        <p:nvPicPr>
          <p:cNvPr id="4" name="Picture 3" descr="eda_word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6949440" cy="26184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NFC, chữ thường, bỏ URL/ký tự đặc biệt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Tách từ underthesea: bảo hộ lao động → bảo_hộ_lao_động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Lọc stopwords, giữ từ phủ định (không, chưa, cấm, được)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TF-IDF (1,2)-gram, sublinear_tf, min_df=2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Vectorizer nằm trong Pipeline: fit chỉ trên train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So sánh 4 mô hình</a:t>
            </a:r>
          </a:p>
          <a:p>
            <a:r>
              <a:rPr sz="1500">
                <a:solidFill>
                  <a:srgbClr val="4A5568"/>
                </a:solidFill>
              </a:rPr>
              <a:t>GridSearchCV + StratifiedGroupKFold(5), tối ưu Macro-F1; chọn theo validation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6400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/>
                        <a:t>Mô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CV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Train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Val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Thật F1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78.0%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54.8%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Logistic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60.3%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LinearSVC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62.0%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51.2%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645920"/>
            <a:ext cx="4846320" cy="1909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D6B20"/>
                </a:solidFill>
              </a:rPr>
              <a:t>Tốt nhất: LinearSVC (val Macro-F1 86.9%)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Ma trận nhầm lẫn</a:t>
            </a:r>
          </a:p>
          <a:p>
            <a:r>
              <a:rPr sz="1500">
                <a:solidFill>
                  <a:srgbClr val="4A5568"/>
                </a:solidFill>
              </a:rPr>
              <a:t>LinearSVC · test synthetic và câu hỏi thật</a:t>
            </a:r>
          </a:p>
        </p:txBody>
      </p:sp>
      <p:pic>
        <p:nvPicPr>
          <p:cNvPr id="4" name="Picture 3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0761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Ablation study</a:t>
            </a:r>
          </a:p>
          <a:p>
            <a:r>
              <a:rPr sz="1500">
                <a:solidFill>
                  <a:srgbClr val="4A5568"/>
                </a:solidFill>
              </a:rPr>
              <a:t>LinearSVC · mỗi cặp chỉ khác 1 yếu tố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749807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Cấu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CV F1 ± std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Thật F1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#1 Full (tách từ + stopwords + 1-2gram)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82.8% ± 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62.0%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#2 Không tách từ (không stopwords,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82.2% ± 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58.6%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#3 Chỉ unigram (tách từ + stopwords)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83.2% ± 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60.9%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#4 Không lọc stopwords (tách từ,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81.4% ± 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62.0%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#5 Không tách từ + unigram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81.3% ± 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55.5%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554480"/>
            <a:ext cx="3840480" cy="1706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Phân tích lỗi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6583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Cặp hay nhầm nhất (4 mô hình, test):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BIEN_PHAP_PHONG_NGUA -&gt; QUY_DINH_CHUNG: 30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QUY_DINH_CHUNG -&gt; BIEN_PHAP_PHONG_NGUA: 13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KHAI_BAO_DIEU_TRA -&gt; QUY_DINH_CHUNG: 11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BIEN_PHAP_PHONG_NGUA -&gt; KHAI_BAO_DIEU_TRA: 6 lần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Accuracy theo văn phong: complaint 87.0%, hr 91.3%, neutral 95.7%, short 91.3%, worker 89.1%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Câu hỏi thật dài ~106 âm tiết, nhiều bối cảnh và dẫn chiếu Nghị định → domain shift</a:t>
            </a:r>
          </a:p>
        </p:txBody>
      </p:sp>
      <p:pic>
        <p:nvPicPr>
          <p:cNvPr id="5" name="Picture 4" descr="acc_by_sty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45920"/>
            <a:ext cx="4663440" cy="229219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Tra cứu Điều luật (giai đoạn 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68580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Test synthetic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Câu hỏi thật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59.5%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End-to-end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50.0%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No-filter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42.9%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92.9%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End-to-end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71.4%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No-filter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73.8%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Top-1 (lớp nhiều Điều)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58.5%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Oracle: biết đúng lớp → đo riêng retrieval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End-to-end: dùng lớp dự đoán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No-filter: tìm trên cả 62 Điều (baseline)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Demo: streamlit run app.py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Demo giao diện</a:t>
            </a:r>
          </a:p>
          <a:p>
            <a:r>
              <a:rPr sz="1500">
                <a:solidFill>
                  <a:srgbClr val="4A5568"/>
                </a:solidFill>
              </a:rPr>
              <a:t>streamlit run app.py · câu hỏi → nhóm quy định → Điều luật liên quan</a:t>
            </a:r>
          </a:p>
        </p:txBody>
      </p:sp>
      <p:pic>
        <p:nvPicPr>
          <p:cNvPr id="4" name="Picture 3" descr="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719" y="1417320"/>
            <a:ext cx="9676256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Kết luận &amp; hướng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Pipeline hoàn chỉnh: corpus 93 Điều (2024) → 1600 câu hỏi → 4 mô hình → ablation → tra cứu → demo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LinearSVC tốt nhất; chia theo nhóm câu gốc để số liệu không bị thổi phồng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Hạn chế: dữ liệu huấn luyện synthetic, test thật nhỏ, chưa xử lý câu nhiều ý / ngoài phạm vi, chưa có mức phạt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Hướng phát triển: thêm dữ liệu thật + kappa, multi-label, Đ63–93 và Nghị định, NĐ 12/2022 mức phạt, PhoBERT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1A365D"/>
                </a:solidFill>
              </a:rPr>
              <a:t>Cảm ơn thầy và các bạn đã lắng nghe</a:t>
            </a:r>
          </a:p>
          <a:p>
            <a:pPr algn="ctr">
              <a:spcBef>
                <a:spcPts val="1200"/>
              </a:spcBef>
            </a:pPr>
            <a:r>
              <a:rPr sz="2200" b="0">
                <a:solidFill>
                  <a:srgbClr val="4A5568"/>
                </a:solidFill>
              </a:rPr>
              <a:t>Hỏi &amp; đáp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