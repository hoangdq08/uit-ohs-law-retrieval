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Tra cứu Luật An toàn, vệ sinh lao động bằng NLP tiếng Việt</a:t>
            </a:r>
          </a:p>
          <a:p>
            <a:r>
              <a:rPr sz="1500">
                <a:solidFill>
                  <a:srgbClr val="4A5568"/>
                </a:solidFill>
              </a:rPr>
              <a:t>Đồ án môn Máy học · GVHD: Thầy Cáp Phạm Đình Thăng · Nhóm: &lt;tên thành viên&gt;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1A202C"/>
                </a:solidFill>
              </a:rPr>
              <a:t>• Bài toán: câu hỏi đời thường → nhóm quy định → Điều luật cụ thể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A202C"/>
                </a:solidFill>
              </a:rPr>
              <a:t>• Luật 84/2015/QH13, văn bản hợp nhất 14/VBHN-VPQH (2024), phạm vi Điều 1–62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A202C"/>
                </a:solidFill>
              </a:rPr>
              <a:t>• Cốt lõi Machine Learning: phân loại văn bản 8 lớp, so sánh 4 mô hình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Bối cảnh &amp; kiến trúc hai giai đoạn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Người lao động hỏi bằng ngôn ngữ đời thường, không nhớ số Điều, Khoản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Tìm kiếm từ khóa chính xác: dễ không ra kết quả hoặc ra quá nhiều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Giai đoạn 1 (ML): TF-IDF + bộ phân loại → 1 trong 8 nhóm quy định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Giai đoạn 2 (IR): cosine similarity giữa câu hỏi và các Điều trong nhóm → Top-k Điều luật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Không dùng LLM/API bên ngoài để trả lời: toàn bộ là mô hình học máy truyền thống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Hệ thống 8 lớp nhãn</a:t>
            </a:r>
          </a:p>
          <a:p>
            <a:r>
              <a:rPr sz="1500">
                <a:solidFill>
                  <a:srgbClr val="4A5568"/>
                </a:solidFill>
              </a:rPr>
              <a:t>Mỗi Điều thuộc đúng 1 lớp; nhãn câu hỏi suy ra từ Điều trả lời trực tiếp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/>
                        <a:t>Lớp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Số Điều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QUY_DINH_CHUNG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Quy định chung, quyền và nghĩa vụ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12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BIEN_PHAP_PHONG_NGUA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Biện pháp phòng ngừa, cải thiện điều kiện làm việc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PHUONG_TIEN_BAO_HO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Phương tiện bảo vệ cá nhân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SUC_KHOE_BOI_DUONG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Khám sức khỏe, bệnh nghề nghiệp, bồi dưỡng hiện vật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KHAI_BAO_DIEU_TRA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Khai báo, điều tra, thống kê tai nạn/sự cố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CHE_DO_BOI_THUONG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Bồi thường, trợ cấp tai nạn lao động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HUAN_LUYEN_ATLD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Huấn luyện an toàn, vệ sinh lao động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BAO_HIEM_TNLD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Bảo hiểm tai nạn lao động, bệnh nghề nghiệp (Quỹ BHXH chi trả)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Dữ liệu</a:t>
            </a:r>
          </a:p>
          <a:p>
            <a:r>
              <a:rPr sz="1500">
                <a:solidFill>
                  <a:srgbClr val="4A5568"/>
                </a:solidFill>
              </a:rPr>
              <a:t>1600 câu hỏi · 320 câu gốc × 5 văn phong · 29 câu hỏi thật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Synthetic có kiểm soát: 40 câu gốc/lớp viết từ nội dung Điều luật, 5 văn phong (trung tính, công nhân, HSE, khiếu nại, rút gọn)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Cân bằng lớp: 200 mẫu mỗi lớp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Chia theo nhóm câu gốc (StratifiedGroupKFold): train 1140 · val 230 · test 230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Mọi paraphrase của một câu gốc nằm cùng 1 tập → không rò rỉ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Test thật: 29 câu của người dân trên chinhsachonline.chinhphu.vn, nhãn theo Điều mà Bộ trả lời viện dẫn</a:t>
            </a:r>
          </a:p>
        </p:txBody>
      </p:sp>
      <p:pic>
        <p:nvPicPr>
          <p:cNvPr id="5" name="Picture 4" descr="eda_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5486400" cy="17980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EDA &amp; tiền xử lý</a:t>
            </a:r>
          </a:p>
        </p:txBody>
      </p:sp>
      <p:pic>
        <p:nvPicPr>
          <p:cNvPr id="4" name="Picture 3" descr="eda_word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6949440" cy="26184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463040"/>
            <a:ext cx="4480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NFC, chữ thường, bỏ URL/ký tự đặc biệt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Tách từ underthesea: bảo hộ lao động → bảo_hộ_lao_động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Lọc stopwords, giữ từ phủ định (không, chưa, cấm, được)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TF-IDF (1,2)-gram, sublinear_tf, min_df=2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Vectorizer nằm trong Pipeline: fit chỉ trên train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So sánh 4 mô hình</a:t>
            </a:r>
          </a:p>
          <a:p>
            <a:r>
              <a:rPr sz="1500">
                <a:solidFill>
                  <a:srgbClr val="4A5568"/>
                </a:solidFill>
              </a:rPr>
              <a:t>GridSearchCV + StratifiedGroupKFold(5), tối ưu Macro-F1; chọn theo validation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6400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/>
                        <a:t>Mô hình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CV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Train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Val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Test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Thật F1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/>
                        <a:t>Naive Bayes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78.0%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53.2%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/>
                        <a:t>Logistic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58.9%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/>
                        <a:t>LinearSVC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60.5%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/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43.7%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645920"/>
            <a:ext cx="4846320" cy="19091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023360"/>
            <a:ext cx="6400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DD6B20"/>
                </a:solidFill>
              </a:rPr>
              <a:t>Tốt nhất: LinearSVC (val Macro-F1 86.9%)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Ma trận nhầm lẫn</a:t>
            </a:r>
          </a:p>
          <a:p>
            <a:r>
              <a:rPr sz="1500">
                <a:solidFill>
                  <a:srgbClr val="4A5568"/>
                </a:solidFill>
              </a:rPr>
              <a:t>LinearSVC · test synthetic và câu hỏi thật</a:t>
            </a:r>
          </a:p>
        </p:txBody>
      </p:sp>
      <p:pic>
        <p:nvPicPr>
          <p:cNvPr id="4" name="Picture 3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40736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Ablation study</a:t>
            </a:r>
          </a:p>
          <a:p>
            <a:r>
              <a:rPr sz="1500">
                <a:solidFill>
                  <a:srgbClr val="4A5568"/>
                </a:solidFill>
              </a:rPr>
              <a:t>LinearSVC · mỗi cặp chỉ khác 1 yếu tố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7498079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874519"/>
                <a:gridCol w="1874519"/>
                <a:gridCol w="1874522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/>
                        <a:t>Cấu hình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CV F1 ± std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Test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Thật F1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#1 Full (tách từ + stopwords + 1-2gram)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82.6% ± 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60.5%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#2 Không tách từ (không stopwords, 1-2gram)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82.1% ± 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57.1%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#3 Chỉ unigram (tách từ + stopwords)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82.8% ± 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58.8%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#4 Không lọc stopwords (tách từ, 1-2gram)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81.5% ± 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58.8%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#5 Không tách từ + unigram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81.3% ± 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52.2%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554480"/>
            <a:ext cx="3840480" cy="1706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Phân tích lỗi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6583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Cặp hay nhầm nhất (4 mô hình, test):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BIEN_PHAP_PHONG_NGUA -&gt; QUY_DINH_CHUNG: 30 lần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QUY_DINH_CHUNG -&gt; BIEN_PHAP_PHONG_NGUA: 13 lần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KHAI_BAO_DIEU_TRA -&gt; QUY_DINH_CHUNG: 12 lần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BIEN_PHAP_PHONG_NGUA -&gt; KHAI_BAO_DIEU_TRA: 6 lần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Accuracy theo văn phong: complaint 87.0%, hr 91.3%, neutral 93.5%, short 91.3%, worker 89.1%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Câu hỏi thật dài ~127 âm tiết, nhiều bối cảnh và dẫn chiếu Nghị định → domain shift</a:t>
            </a:r>
          </a:p>
        </p:txBody>
      </p:sp>
      <p:pic>
        <p:nvPicPr>
          <p:cNvPr id="5" name="Picture 4" descr="acc_by_sty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645920"/>
            <a:ext cx="4663440" cy="229219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Tra cứu Điều luật (giai đoạn 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68580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/>
                        <a:t>Chỉ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real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oracle_top1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65.5%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e2e_top1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55.2%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nofilter_top1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44.8%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oracle_top3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96.5%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e2e_top3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75.9%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nofilter_top3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79.3%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oracle_top1_multi_article_classes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76.6%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64.3%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206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Oracle: biết đúng lớp → đo riêng retrieval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End-to-end: dùng lớp dự đoán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No-filter: tìm trên cả 62 Điều (baseline)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Demo: streamlit run app.py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Kết luận &amp; hướng phát triển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Pipeline hoàn chỉnh: corpus 93 Điều (2024) → 1600 câu hỏi → 4 mô hình → ablation → tra cứu → demo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LinearSVC tốt nhất; chia theo nhóm câu gốc để số liệu không bị thổi phồng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Hạn chế: dữ liệu huấn luyện synthetic, test thật nhỏ, chưa xử lý câu nhiều ý / ngoài phạm vi, chưa có mức phạt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Hướng phát triển: thêm dữ liệu thật + kappa, multi-label, Đ63–93 và Nghị định, NĐ 12/2022 mức phạt, PhoBERT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Cảm ơn thầy và các bạn đã lắng nghe</a:t>
            </a:r>
          </a:p>
          <a:p>
            <a:r>
              <a:rPr sz="1500">
                <a:solidFill>
                  <a:srgbClr val="4A5568"/>
                </a:solidFill>
              </a:rPr>
              <a:t>Hỏi &amp; đáp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