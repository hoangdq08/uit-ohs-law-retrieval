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83" dt="2026-09-30T14:39:30.9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489970" cy="1292662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3000" b="1" dirty="0">
                <a:solidFill>
                  <a:srgbClr val="1A365D"/>
                </a:solidFill>
              </a:rPr>
              <a:t>Tra </a:t>
            </a:r>
            <a:r>
              <a:rPr sz="3000" b="1" dirty="0" err="1">
                <a:solidFill>
                  <a:srgbClr val="1A365D"/>
                </a:solidFill>
              </a:rPr>
              <a:t>cứu</a:t>
            </a:r>
            <a:r>
              <a:rPr sz="3000" b="1" dirty="0">
                <a:solidFill>
                  <a:srgbClr val="1A365D"/>
                </a:solidFill>
              </a:rPr>
              <a:t> </a:t>
            </a:r>
            <a:r>
              <a:rPr sz="3000" b="1" dirty="0" err="1">
                <a:solidFill>
                  <a:srgbClr val="1A365D"/>
                </a:solidFill>
              </a:rPr>
              <a:t>Luật</a:t>
            </a:r>
            <a:r>
              <a:rPr sz="3000" b="1" dirty="0">
                <a:solidFill>
                  <a:srgbClr val="1A365D"/>
                </a:solidFill>
              </a:rPr>
              <a:t> An </a:t>
            </a:r>
            <a:r>
              <a:rPr sz="3000" b="1" dirty="0" err="1">
                <a:solidFill>
                  <a:srgbClr val="1A365D"/>
                </a:solidFill>
              </a:rPr>
              <a:t>toàn</a:t>
            </a:r>
            <a:r>
              <a:rPr sz="3000" b="1" dirty="0">
                <a:solidFill>
                  <a:srgbClr val="1A365D"/>
                </a:solidFill>
              </a:rPr>
              <a:t>, </a:t>
            </a:r>
            <a:r>
              <a:rPr sz="3000" b="1" dirty="0" err="1">
                <a:solidFill>
                  <a:srgbClr val="1A365D"/>
                </a:solidFill>
              </a:rPr>
              <a:t>vệ</a:t>
            </a:r>
            <a:r>
              <a:rPr sz="3000" b="1" dirty="0">
                <a:solidFill>
                  <a:srgbClr val="1A365D"/>
                </a:solidFill>
              </a:rPr>
              <a:t> </a:t>
            </a:r>
            <a:r>
              <a:rPr sz="3000" b="1" dirty="0" err="1">
                <a:solidFill>
                  <a:srgbClr val="1A365D"/>
                </a:solidFill>
              </a:rPr>
              <a:t>sinh</a:t>
            </a:r>
            <a:r>
              <a:rPr sz="3000" b="1" dirty="0">
                <a:solidFill>
                  <a:srgbClr val="1A365D"/>
                </a:solidFill>
              </a:rPr>
              <a:t> </a:t>
            </a:r>
            <a:r>
              <a:rPr sz="3000" b="1" dirty="0" err="1">
                <a:solidFill>
                  <a:srgbClr val="1A365D"/>
                </a:solidFill>
              </a:rPr>
              <a:t>lao</a:t>
            </a:r>
            <a:r>
              <a:rPr sz="3000" b="1" dirty="0">
                <a:solidFill>
                  <a:srgbClr val="1A365D"/>
                </a:solidFill>
              </a:rPr>
              <a:t> </a:t>
            </a:r>
            <a:r>
              <a:rPr sz="3000" b="1" dirty="0" err="1">
                <a:solidFill>
                  <a:srgbClr val="1A365D"/>
                </a:solidFill>
              </a:rPr>
              <a:t>động</a:t>
            </a:r>
            <a:r>
              <a:rPr sz="3000" b="1" dirty="0">
                <a:solidFill>
                  <a:srgbClr val="1A365D"/>
                </a:solidFill>
              </a:rPr>
              <a:t> </a:t>
            </a:r>
            <a:r>
              <a:rPr sz="3000" b="1" dirty="0" err="1">
                <a:solidFill>
                  <a:srgbClr val="1A365D"/>
                </a:solidFill>
              </a:rPr>
              <a:t>bằng</a:t>
            </a:r>
            <a:r>
              <a:rPr sz="3000" b="1" dirty="0">
                <a:solidFill>
                  <a:srgbClr val="1A365D"/>
                </a:solidFill>
              </a:rPr>
              <a:t> NLP </a:t>
            </a:r>
            <a:r>
              <a:rPr sz="3000" b="1" dirty="0" err="1">
                <a:solidFill>
                  <a:srgbClr val="1A365D"/>
                </a:solidFill>
              </a:rPr>
              <a:t>tiếng</a:t>
            </a:r>
            <a:r>
              <a:rPr sz="3000" b="1" dirty="0">
                <a:solidFill>
                  <a:srgbClr val="1A365D"/>
                </a:solidFill>
              </a:rPr>
              <a:t> Việt</a:t>
            </a:r>
          </a:p>
          <a:p>
            <a:pPr algn="ctr"/>
            <a:r>
              <a:rPr sz="1500" dirty="0" err="1">
                <a:solidFill>
                  <a:srgbClr val="4A5568"/>
                </a:solidFill>
              </a:rPr>
              <a:t>Đồ</a:t>
            </a:r>
            <a:r>
              <a:rPr sz="1500" dirty="0">
                <a:solidFill>
                  <a:srgbClr val="4A5568"/>
                </a:solidFill>
              </a:rPr>
              <a:t> </a:t>
            </a:r>
            <a:r>
              <a:rPr sz="1500" dirty="0" err="1">
                <a:solidFill>
                  <a:srgbClr val="4A5568"/>
                </a:solidFill>
              </a:rPr>
              <a:t>án</a:t>
            </a:r>
            <a:r>
              <a:rPr sz="1500" dirty="0">
                <a:solidFill>
                  <a:srgbClr val="4A5568"/>
                </a:solidFill>
              </a:rPr>
              <a:t> </a:t>
            </a:r>
            <a:r>
              <a:rPr sz="1500" dirty="0" err="1">
                <a:solidFill>
                  <a:srgbClr val="4A5568"/>
                </a:solidFill>
              </a:rPr>
              <a:t>môn</a:t>
            </a:r>
            <a:r>
              <a:rPr sz="1500" dirty="0">
                <a:solidFill>
                  <a:srgbClr val="4A5568"/>
                </a:solidFill>
              </a:rPr>
              <a:t> Máy </a:t>
            </a:r>
            <a:r>
              <a:rPr sz="1500" dirty="0" err="1">
                <a:solidFill>
                  <a:srgbClr val="4A5568"/>
                </a:solidFill>
              </a:rPr>
              <a:t>học</a:t>
            </a:r>
            <a:r>
              <a:rPr sz="1500" dirty="0">
                <a:solidFill>
                  <a:srgbClr val="4A5568"/>
                </a:solidFill>
              </a:rPr>
              <a:t> · GVHD: </a:t>
            </a:r>
            <a:r>
              <a:rPr sz="1500" dirty="0" err="1">
                <a:solidFill>
                  <a:srgbClr val="4A5568"/>
                </a:solidFill>
              </a:rPr>
              <a:t>Thầy</a:t>
            </a:r>
            <a:r>
              <a:rPr sz="1500" dirty="0">
                <a:solidFill>
                  <a:srgbClr val="4A5568"/>
                </a:solidFill>
              </a:rPr>
              <a:t> </a:t>
            </a:r>
            <a:r>
              <a:rPr sz="1500" dirty="0" err="1">
                <a:solidFill>
                  <a:srgbClr val="4A5568"/>
                </a:solidFill>
              </a:rPr>
              <a:t>Cáp</a:t>
            </a:r>
            <a:r>
              <a:rPr sz="1500" dirty="0">
                <a:solidFill>
                  <a:srgbClr val="4A5568"/>
                </a:solidFill>
              </a:rPr>
              <a:t> Phạm Đình Thăng · </a:t>
            </a:r>
            <a:endParaRPr lang="en-US" sz="1500" dirty="0">
              <a:solidFill>
                <a:srgbClr val="4A5568"/>
              </a:solidFill>
              <a:ea typeface="Calibri"/>
              <a:cs typeface="Calibri"/>
            </a:endParaRPr>
          </a:p>
          <a:p>
            <a:endParaRPr lang="en-US" sz="1500" dirty="0">
              <a:solidFill>
                <a:srgbClr val="4A5568"/>
              </a:solidFill>
            </a:endParaRPr>
          </a:p>
          <a:p>
            <a:endParaRPr lang="en-US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3639484"/>
            <a:ext cx="10092187" cy="13131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dirty="0">
                <a:solidFill>
                  <a:srgbClr val="1A202C"/>
                </a:solidFill>
              </a:rPr>
              <a:t>• </a:t>
            </a:r>
            <a:r>
              <a:rPr sz="2200" dirty="0" err="1">
                <a:solidFill>
                  <a:srgbClr val="1A202C"/>
                </a:solidFill>
              </a:rPr>
              <a:t>Bài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toán</a:t>
            </a:r>
            <a:r>
              <a:rPr sz="2200" dirty="0">
                <a:solidFill>
                  <a:srgbClr val="1A202C"/>
                </a:solidFill>
              </a:rPr>
              <a:t>: </a:t>
            </a:r>
            <a:r>
              <a:rPr sz="2200" dirty="0" err="1">
                <a:solidFill>
                  <a:srgbClr val="1A202C"/>
                </a:solidFill>
              </a:rPr>
              <a:t>câu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hỏi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đời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thường</a:t>
            </a:r>
            <a:r>
              <a:rPr sz="2200" dirty="0">
                <a:solidFill>
                  <a:srgbClr val="1A202C"/>
                </a:solidFill>
              </a:rPr>
              <a:t> → </a:t>
            </a:r>
            <a:r>
              <a:rPr sz="2200" dirty="0" err="1">
                <a:solidFill>
                  <a:srgbClr val="1A202C"/>
                </a:solidFill>
              </a:rPr>
              <a:t>nhóm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quy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định</a:t>
            </a:r>
            <a:r>
              <a:rPr sz="2200" dirty="0">
                <a:solidFill>
                  <a:srgbClr val="1A202C"/>
                </a:solidFill>
              </a:rPr>
              <a:t> → </a:t>
            </a:r>
            <a:r>
              <a:rPr sz="2200" dirty="0" err="1">
                <a:solidFill>
                  <a:srgbClr val="1A202C"/>
                </a:solidFill>
              </a:rPr>
              <a:t>Điều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luật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cụ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thể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1A202C"/>
                </a:solidFill>
              </a:rPr>
              <a:t>• </a:t>
            </a:r>
            <a:r>
              <a:rPr sz="2200" dirty="0" err="1">
                <a:solidFill>
                  <a:srgbClr val="1A202C"/>
                </a:solidFill>
              </a:rPr>
              <a:t>Luật</a:t>
            </a:r>
            <a:r>
              <a:rPr sz="2200" dirty="0">
                <a:solidFill>
                  <a:srgbClr val="1A202C"/>
                </a:solidFill>
              </a:rPr>
              <a:t> 84/2015/QH13, </a:t>
            </a:r>
            <a:r>
              <a:rPr sz="2200" dirty="0" err="1">
                <a:solidFill>
                  <a:srgbClr val="1A202C"/>
                </a:solidFill>
              </a:rPr>
              <a:t>văn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bản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hợp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nhất</a:t>
            </a:r>
            <a:r>
              <a:rPr sz="2200" dirty="0">
                <a:solidFill>
                  <a:srgbClr val="1A202C"/>
                </a:solidFill>
              </a:rPr>
              <a:t> 14/VBHN-VPQH (2024), </a:t>
            </a:r>
            <a:r>
              <a:rPr sz="2200" dirty="0" err="1">
                <a:solidFill>
                  <a:srgbClr val="1A202C"/>
                </a:solidFill>
              </a:rPr>
              <a:t>phạm</a:t>
            </a:r>
            <a:r>
              <a:rPr sz="2200" dirty="0">
                <a:solidFill>
                  <a:srgbClr val="1A202C"/>
                </a:solidFill>
              </a:rPr>
              <a:t> vi </a:t>
            </a:r>
            <a:r>
              <a:rPr sz="2200" dirty="0" err="1">
                <a:solidFill>
                  <a:srgbClr val="1A202C"/>
                </a:solidFill>
              </a:rPr>
              <a:t>Điều</a:t>
            </a:r>
            <a:r>
              <a:rPr sz="2200" dirty="0">
                <a:solidFill>
                  <a:srgbClr val="1A202C"/>
                </a:solidFill>
              </a:rPr>
              <a:t> 1–62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1A202C"/>
                </a:solidFill>
              </a:rPr>
              <a:t>• </a:t>
            </a:r>
            <a:r>
              <a:rPr sz="2200" dirty="0" err="1">
                <a:solidFill>
                  <a:srgbClr val="1A202C"/>
                </a:solidFill>
              </a:rPr>
              <a:t>Cốt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lõi</a:t>
            </a:r>
            <a:r>
              <a:rPr sz="2200" dirty="0">
                <a:solidFill>
                  <a:srgbClr val="1A202C"/>
                </a:solidFill>
              </a:rPr>
              <a:t> Machine Learning: </a:t>
            </a:r>
            <a:r>
              <a:rPr sz="2200" dirty="0" err="1">
                <a:solidFill>
                  <a:srgbClr val="1A202C"/>
                </a:solidFill>
              </a:rPr>
              <a:t>phân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loại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văn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bản</a:t>
            </a:r>
            <a:r>
              <a:rPr sz="2200" dirty="0">
                <a:solidFill>
                  <a:srgbClr val="1A202C"/>
                </a:solidFill>
              </a:rPr>
              <a:t> 8 </a:t>
            </a:r>
            <a:r>
              <a:rPr sz="2200" dirty="0" err="1">
                <a:solidFill>
                  <a:srgbClr val="1A202C"/>
                </a:solidFill>
              </a:rPr>
              <a:t>lớp</a:t>
            </a:r>
            <a:r>
              <a:rPr sz="2200" dirty="0">
                <a:solidFill>
                  <a:srgbClr val="1A202C"/>
                </a:solidFill>
              </a:rPr>
              <a:t>, so </a:t>
            </a:r>
            <a:r>
              <a:rPr sz="2200" dirty="0" err="1">
                <a:solidFill>
                  <a:srgbClr val="1A202C"/>
                </a:solidFill>
              </a:rPr>
              <a:t>sánh</a:t>
            </a:r>
            <a:r>
              <a:rPr sz="2200" dirty="0">
                <a:solidFill>
                  <a:srgbClr val="1A202C"/>
                </a:solidFill>
              </a:rPr>
              <a:t> 4 </a:t>
            </a:r>
            <a:r>
              <a:rPr sz="2200" dirty="0" err="1">
                <a:solidFill>
                  <a:srgbClr val="1A202C"/>
                </a:solidFill>
              </a:rPr>
              <a:t>mô</a:t>
            </a:r>
            <a:r>
              <a:rPr sz="2200" dirty="0">
                <a:solidFill>
                  <a:srgbClr val="1A202C"/>
                </a:solidFill>
              </a:rPr>
              <a:t> </a:t>
            </a:r>
            <a:r>
              <a:rPr sz="2200" dirty="0" err="1">
                <a:solidFill>
                  <a:srgbClr val="1A202C"/>
                </a:solidFill>
              </a:rPr>
              <a:t>hình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D5802-8301-55C2-E595-47FF63AA6033}"/>
              </a:ext>
            </a:extLst>
          </p:cNvPr>
          <p:cNvSpPr txBox="1"/>
          <p:nvPr/>
        </p:nvSpPr>
        <p:spPr>
          <a:xfrm>
            <a:off x="4189705" y="1951869"/>
            <a:ext cx="2994999" cy="147732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sz="1500" dirty="0" err="1">
                <a:solidFill>
                  <a:srgbClr val="4A5568"/>
                </a:solidFill>
              </a:rPr>
              <a:t>Nhóm</a:t>
            </a:r>
            <a:r>
              <a:rPr sz="1500" dirty="0">
                <a:solidFill>
                  <a:srgbClr val="4A5568"/>
                </a:solidFill>
              </a:rPr>
              <a:t>: </a:t>
            </a:r>
            <a:r>
              <a:rPr lang="en-US" sz="1500" dirty="0">
                <a:solidFill>
                  <a:srgbClr val="4A5568"/>
                </a:solidFill>
              </a:rPr>
              <a:t>27</a:t>
            </a:r>
            <a:endParaRPr lang="en-US" sz="1500">
              <a:solidFill>
                <a:srgbClr val="4A5568"/>
              </a:solidFill>
              <a:ea typeface="Calibri"/>
              <a:cs typeface="Calibri"/>
            </a:endParaRPr>
          </a:p>
          <a:p>
            <a:r>
              <a:rPr lang="en-US" sz="1500" dirty="0" err="1">
                <a:solidFill>
                  <a:srgbClr val="4A5568"/>
                </a:solidFill>
                <a:ea typeface="+mn-lt"/>
                <a:cs typeface="+mn-lt"/>
              </a:rPr>
              <a:t>Đỗ</a:t>
            </a:r>
            <a:r>
              <a:rPr lang="en-US" sz="1500" dirty="0">
                <a:solidFill>
                  <a:srgbClr val="4A5568"/>
                </a:solidFill>
                <a:ea typeface="+mn-lt"/>
                <a:cs typeface="+mn-lt"/>
              </a:rPr>
              <a:t> Quốc Hoàng 26410043</a:t>
            </a:r>
            <a:endParaRPr dirty="0">
              <a:ea typeface="Calibri"/>
              <a:cs typeface="Calibri"/>
            </a:endParaRPr>
          </a:p>
          <a:p>
            <a:r>
              <a:rPr lang="en-US" sz="1500" dirty="0">
                <a:solidFill>
                  <a:srgbClr val="4A5568"/>
                </a:solidFill>
                <a:ea typeface="+mn-lt"/>
                <a:cs typeface="+mn-lt"/>
              </a:rPr>
              <a:t>Nguyễn Trí Toàn 26410135</a:t>
            </a:r>
            <a:endParaRPr lang="en-US" dirty="0">
              <a:ea typeface="Calibri"/>
              <a:cs typeface="Calibri"/>
            </a:endParaRPr>
          </a:p>
          <a:p>
            <a:r>
              <a:rPr lang="en-US" sz="1500" dirty="0">
                <a:solidFill>
                  <a:srgbClr val="4A5568"/>
                </a:solidFill>
                <a:ea typeface="+mn-lt"/>
                <a:cs typeface="+mn-lt"/>
              </a:rPr>
              <a:t>Nguyễn Văn Thái 26410108</a:t>
            </a:r>
            <a:endParaRPr lang="en-US" dirty="0">
              <a:ea typeface="Calibri"/>
              <a:cs typeface="Calibri"/>
            </a:endParaRPr>
          </a:p>
          <a:p>
            <a:endParaRPr lang="en-US" sz="1500" dirty="0">
              <a:solidFill>
                <a:srgbClr val="4A5568"/>
              </a:solidFill>
              <a:ea typeface="Calibri"/>
              <a:cs typeface="Calibri"/>
            </a:endParaRPr>
          </a:p>
          <a:p>
            <a:endParaRPr lang="en-US" sz="1500" dirty="0">
              <a:solidFill>
                <a:srgbClr val="4A5568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Bối cảnh &amp; kiến trúc hai giai đoạn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Người lao động hỏi bằng ngôn ngữ đời thường, không nhớ số Điều, Khoản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Tìm kiếm từ khóa chính xác: dễ không ra kết quả hoặc ra quá nhiều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1 (ML): TF-IDF + bộ phân loại → 1 trong 8 nhóm quy định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Giai đoạn 2 (IR): cosine similarity giữa câu hỏi và các Điều trong nhóm → Top-k Điều luật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Không dùng LLM/API bên ngoài để trả lời: toàn bộ là mô hình học máy truyền thống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Hệ thống 8 lớp nhãn</a:t>
            </a:r>
          </a:p>
          <a:p>
            <a:r>
              <a:rPr sz="1500">
                <a:solidFill>
                  <a:srgbClr val="4A5568"/>
                </a:solidFill>
              </a:rPr>
              <a:t>Mỗi Điều thuộc đúng 1 lớp; nhãn câu hỏi suy ra từ Điều trả lời trực tiếp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Lớp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Số Điều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QUY_DINH_CHUNG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Quy định chung, quyền và nghĩa vụ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BIEN_PHAP_PHONG_NGUA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Biện pháp phòng ngừa, cải thiện điều kiện làm việc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PHUONG_TIEN_BAO_HO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Phương tiện bảo vệ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SUC_KHOE_BOI_DUONG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Khám sức khỏe, bệnh nghề nghiệp, bồi dưỡng hiện vật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KHAI_BAO_DIEU_TRA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Khai báo, điều tra, thống kê tai nạn/sự cố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CHE_DO_BOI_THUONG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Bồi thường, trợ cấp tai nạn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HUAN_LUYEN_ATLD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Huấn luyện an toàn, vệ sinh lao động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BAO_HIEM_TNLD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Bảo hiểm tai nạn lao động, bệnh nghề nghiệp (Quỹ BHXH chi trả)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Dữ liệu</a:t>
            </a:r>
          </a:p>
          <a:p>
            <a:r>
              <a:rPr sz="1500">
                <a:solidFill>
                  <a:srgbClr val="4A5568"/>
                </a:solidFill>
              </a:rPr>
              <a:t>1600 câu hỏi · 320 câu gốc × 5 văn phong · 42 câu hỏi thật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Synthetic do LLM (Claude) sinh từ nội dung Điều luật: 40 câu gốc/lớp, 5 văn phong; nhãn suy từ Điều, kiểm bằng validator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Cân bằng lớp: 200 mẫu mỗi lớp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Chia theo nhóm câu gốc (StratifiedGroupKFold): train 1140 · val 230 · test 230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Mọi paraphrase của một câu gốc nằm cùng 1 tập → không rò rỉ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Test thật: 42 câu của người dân trên chinhsachonline.chinhphu.vn, nhãn LLM gán theo Điều mà Bộ trả lời viện dẫn</a:t>
            </a:r>
          </a:p>
        </p:txBody>
      </p:sp>
      <p:pic>
        <p:nvPicPr>
          <p:cNvPr id="5" name="Picture 4" descr="eda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486400" cy="17980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EDA &amp; tiền xử lý</a:t>
            </a:r>
          </a:p>
        </p:txBody>
      </p:sp>
      <p:pic>
        <p:nvPicPr>
          <p:cNvPr id="4" name="Picture 3" descr="eda_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6949440" cy="2618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NFC, chữ thường, bỏ URL/ký tự đặc biệt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Tách từ underthesea: bảo hộ lao động → bảo_hộ_lao_động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Lọc stopwords, giữ từ phủ định (không, chưa, cấm, được)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TF-IDF (1,2)-gram, sublinear_tf, min_df=2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Vectorizer nằm trong Pipeline: fit chỉ trên train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So sánh 4 mô hình</a:t>
            </a:r>
          </a:p>
          <a:p>
            <a:r>
              <a:rPr sz="1500">
                <a:solidFill>
                  <a:srgbClr val="4A5568"/>
                </a:solidFill>
              </a:rPr>
              <a:t>GridSearchCV + StratifiedGroupKFold(5), tối ưu Macro-F1; chọn theo 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6400800" cy="2188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400" b="1"/>
                        <a:t>Mô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CV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Train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Val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Thật F1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54.8%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60.3%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LinearSVC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62.0%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51.2%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645920"/>
            <a:ext cx="4846320" cy="1909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6400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DD6B20"/>
                </a:solidFill>
              </a:rPr>
              <a:t>Tốt nhất: LinearSVC (val Macro-F1 86.9%)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Ma trận nhầm lẫn</a:t>
            </a:r>
          </a:p>
          <a:p>
            <a:r>
              <a:rPr sz="1500">
                <a:solidFill>
                  <a:srgbClr val="4A5568"/>
                </a:solidFill>
              </a:rPr>
              <a:t>LinearSVC · test synthetic và câu hỏi thật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40736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Ablation study</a:t>
            </a:r>
          </a:p>
          <a:p>
            <a:r>
              <a:rPr sz="1500">
                <a:solidFill>
                  <a:srgbClr val="4A5568"/>
                </a:solidFill>
              </a:rPr>
              <a:t>LinearSVC · mỗi cặp chỉ khác 1 yếu tố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498079" cy="2822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Cấu hình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CV F1 ± 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Thật F1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#1 Full (tách từ + stopwords + 1-2gram)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82.8% ± 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#2 Không tách từ (không stopwords,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 ± 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#3 Chỉ unigram (tách từ + stopwords)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83.2% ± 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60.9%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#4 Không lọc stopwords (tách từ, 1-2gram)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81.4% ± 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62.0%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#5 Không tách từ + unigram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81.3% ± 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55.5%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840480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Phân tích lỗi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Cặp hay nhầm nhất (4 mô hình, test):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QUY_DINH_CHUNG: 30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QUY_DINH_CHUNG -&gt; BIEN_PHAP_PHONG_NGUA: 13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KHAI_BAO_DIEU_TRA -&gt; QUY_DINH_CHUNG: 11 lần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4A5568"/>
                </a:solidFill>
              </a:rPr>
              <a:t>– BIEN_PHAP_PHONG_NGUA -&gt; KHAI_BAO_DIEU_TRA: 6 lần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Accuracy theo văn phong: complaint 87.0%, hr 91.3%, neutral 95.7%, short 91.3%, worker 89.1%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A202C"/>
                </a:solidFill>
              </a:rPr>
              <a:t>• Câu hỏi thật dài ~106 âm tiết, nhiều bối cảnh và dẫn chiếu Nghị định → domain shift</a:t>
            </a:r>
          </a:p>
        </p:txBody>
      </p:sp>
      <p:pic>
        <p:nvPicPr>
          <p:cNvPr id="5" name="Picture 4" descr="acc_by_sty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45920"/>
            <a:ext cx="4663440" cy="229219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Tra cứu Điều luật (giai đoạn 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858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300" b="1"/>
                        <a:t>Chỉ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Test synthetic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Câu hỏi thật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59.5%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50.0%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92.9%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End-to-end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No-filter Top-3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73.8%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/>
                        <a:t>Oracle Top-1 (lớp nhiều Điều)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76.6%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58.5%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Oracle: biết đúng lớp → đo riêng retrieval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End-to-end: dùng lớp dự đoán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No-filter: tìm trên cả 62 Điều (baseline)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A202C"/>
                </a:solidFill>
              </a:rPr>
              <a:t>• Demo: streamlit run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Kết luận &amp; hướng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Pipeline hoàn chỉnh: corpus 93 Điều (2024) → 1600 câu hỏi → 4 mô hình → ablation → tra cứu → demo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LinearSVC tốt nhất; chia theo nhóm câu gốc để số liệu không bị thổi phồng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Hạn chế: dữ liệu huấn luyện synthetic, test thật nhỏ, chưa xử lý câu nhiều ý / ngoài phạm vi, chưa có mức phạt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• Hướng phát triển: thêm dữ liệu thật + kappa, multi-label, Đ63–93 và Nghị định, NĐ 12/2022 mức phạt, PhoBERT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65D"/>
                </a:solidFill>
              </a:rPr>
              <a:t>Cảm ơn thầy và các bạn đã lắng nghe</a:t>
            </a:r>
          </a:p>
          <a:p>
            <a:r>
              <a:rPr sz="1500">
                <a:solidFill>
                  <a:srgbClr val="4A5568"/>
                </a:solidFill>
              </a:rPr>
              <a:t>Hỏi &amp; đáp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31</cp:revision>
  <dcterms:created xsi:type="dcterms:W3CDTF">2013-01-27T09:14:16Z</dcterms:created>
  <dcterms:modified xsi:type="dcterms:W3CDTF">2026-09-30T14:42:47Z</dcterms:modified>
  <cp:category/>
</cp:coreProperties>
</file>